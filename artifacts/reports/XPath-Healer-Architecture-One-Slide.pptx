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8868-91CF-CF78-D3DC-85C4468DD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85186-7CE9-1FED-DEB4-EF9F1AC9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9DB85-FE8B-6904-259C-359E36C5A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506-C90D-4434-A0E8-FAF6FC4AF67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A38E3-531C-1F66-F488-BD2016D1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9188F-A9BF-41B2-C0F1-4D8909A0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B936-1E2E-451A-881B-B6BDD1DD2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92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A088D-1CDD-3993-500E-015E9BAB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AA998-DB51-33B5-9FC1-5977844FB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751E6-3968-BB8B-FCE2-6B35BE64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506-C90D-4434-A0E8-FAF6FC4AF67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E3D7D-E11F-E12A-A2E5-934EABFF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32C31-39BD-ED86-90A4-64B43100D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B936-1E2E-451A-881B-B6BDD1DD2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84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67CFB-DD42-E302-F005-78654778B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54FB0-F2A8-D323-9642-5904F0BA2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3D203-996C-7EF8-36F7-A00965F79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506-C90D-4434-A0E8-FAF6FC4AF67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86658-3C77-0DA0-EAE7-2C3230D1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5282B-3EC7-AD40-7895-AAA547EC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B936-1E2E-451A-881B-B6BDD1DD2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462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6490-ABFF-8F89-DFF2-BAE679855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2973A-0C84-A8AA-45D9-3354648F2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C594B-C90C-F21E-1548-D63D9773C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35BEB-BC10-9A8F-A585-85A669FFD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506-C90D-4434-A0E8-FAF6FC4AF67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19C9B-5C01-7DBD-D0BE-32A97E39A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16E4F-C873-E484-AE79-BC3BE1F70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B936-1E2E-451A-881B-B6BDD1DD2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35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62404-AB4A-D0B6-3F61-4E08B4CEC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20C0C-F0E3-3409-1C9D-CA5E1019B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7B9DC-69B5-E185-1F0F-7CA4B1CD0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990E3-A374-CA20-1816-8A738A8B9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5EEBB-60CF-52F4-2A25-27CB6C047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2685F7-2AED-3F80-5337-2D27C6A4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506-C90D-4434-A0E8-FAF6FC4AF67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86977E-09A3-3D29-F0A0-A00D9E19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3DBF9-E7AB-0067-47C9-82C91FA1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B936-1E2E-451A-881B-B6BDD1DD2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94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1F85-6ABD-5DBC-80E5-FA2E894D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72E9B-9C8D-1DFA-19C9-DF067D39C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506-C90D-4434-A0E8-FAF6FC4AF67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210B0-5E06-F106-B803-95B9B9646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C2F6A-B5FE-12B6-CD8E-3E3247FF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B936-1E2E-451A-881B-B6BDD1DD2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84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173C4-ECBE-F23B-6E72-505B64DA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506-C90D-4434-A0E8-FAF6FC4AF67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0A5F0-FD3B-F96E-962D-6186E2BD7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51D8F-C433-1A63-AAFF-8E258D6B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B936-1E2E-451A-881B-B6BDD1DD2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71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65021-E1FF-53E5-C378-9EB73305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09387-221E-41C0-5F90-3801D6740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5368CC-E767-BC2B-079C-F477D1492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EB728-7F1E-1888-71A2-05F2EA65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506-C90D-4434-A0E8-FAF6FC4AF67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9E2F8-823E-7686-C782-26546A47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874FF-B4F7-59E2-0444-62A6DDF5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B936-1E2E-451A-881B-B6BDD1DD2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80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D8BE-44B2-C75D-0D88-6CDE98D16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036DAD-CFFB-2581-4052-ED7EE1A363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AE5E6-C6F1-873C-4CEB-3A47DC092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526BB-4B5B-8E76-C518-5E0A3EB6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506-C90D-4434-A0E8-FAF6FC4AF67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AC31F-6D56-43FC-646E-59A646BE5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D322D-54FE-C279-09D7-BCFF12834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B936-1E2E-451A-881B-B6BDD1DD2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04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0E91-CCEA-9201-BFCE-B1CFDA7FF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37F84-6E22-4C39-DD76-1FD7DED2B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501CE-699D-1387-1DAF-E1BCBBAE2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506-C90D-4434-A0E8-FAF6FC4AF67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16083-2B66-3335-F534-33F778A58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E035D-A919-717D-1CD9-719F6FE1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B936-1E2E-451A-881B-B6BDD1DD2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311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FDF56-820C-DCC0-0ACF-C72EAACCB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1C88F-1113-09DE-7FD9-B570773D4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B8F9A-F349-3720-72AB-882709DC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506-C90D-4434-A0E8-FAF6FC4AF67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A4380-65A7-6B45-7355-612870A9E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556E8-8B33-63A9-A71A-0161B7B5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B936-1E2E-451A-881B-B6BDD1DD2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63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4ECAF1-8887-71C5-E731-41F285149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40D07-D35D-9F8D-3EC1-6D5D7B7AB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FB0F4-BC90-625E-9980-89491CFD2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14506-C90D-4434-A0E8-FAF6FC4AF67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09817-3506-69BD-D849-52D877189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12C12-D51E-0169-C1B0-0B4133518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7B936-1E2E-451A-881B-B6BDD1DD2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7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5B248D-9AF5-A439-ED05-F6C5B0668859}"/>
              </a:ext>
            </a:extLst>
          </p:cNvPr>
          <p:cNvSpPr txBox="1"/>
          <p:nvPr/>
        </p:nvSpPr>
        <p:spPr>
          <a:xfrm>
            <a:off x="304800" y="203200"/>
            <a:ext cx="115824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latin typeface="Segoe UI" panose="020B0502040204020203" pitchFamily="34" charset="0"/>
              </a:rPr>
              <a:t>XPath Healer Architecture (Deterministic-First)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0701E0-BCB0-ECC7-BFDA-37DC4DADAEB0}"/>
              </a:ext>
            </a:extLst>
          </p:cNvPr>
          <p:cNvSpPr txBox="1"/>
          <p:nvPr/>
        </p:nvSpPr>
        <p:spPr>
          <a:xfrm>
            <a:off x="304800" y="736600"/>
            <a:ext cx="115824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4C4C4C"/>
                </a:solidFill>
                <a:latin typeface="Segoe UI" panose="020B0502040204020203" pitchFamily="34" charset="0"/>
              </a:rPr>
              <a:t>Input -&gt; Multi-Stage Healing Pipeline -&gt; Validated Locator + Traceable Artifacts</a:t>
            </a:r>
            <a:endParaRPr lang="en-IN" sz="1300">
              <a:solidFill>
                <a:srgbClr val="4C4C4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25B8EA-B88D-47C7-D4DB-0F7022B5FC28}"/>
              </a:ext>
            </a:extLst>
          </p:cNvPr>
          <p:cNvSpPr/>
          <p:nvPr/>
        </p:nvSpPr>
        <p:spPr>
          <a:xfrm>
            <a:off x="457200" y="1371600"/>
            <a:ext cx="2794000" cy="1219200"/>
          </a:xfrm>
          <a:prstGeom prst="rect">
            <a:avLst/>
          </a:prstGeom>
          <a:solidFill>
            <a:srgbClr val="F0F0F0"/>
          </a:solidFill>
          <a:ln>
            <a:solidFill>
              <a:srgbClr val="AAAA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lang="en-US" sz="1200" b="1">
                <a:latin typeface="Segoe UI" panose="020B0502040204020203" pitchFamily="34" charset="0"/>
              </a:rPr>
              <a:t>1) Test Intent Input</a:t>
            </a:r>
          </a:p>
          <a:p>
            <a:pPr algn="ctr">
              <a:spcAft>
                <a:spcPts val="400"/>
              </a:spcAft>
            </a:pPr>
            <a:r>
              <a:rPr lang="en-US" sz="1200">
                <a:latin typeface="Segoe UI" panose="020B0502040204020203" pitchFamily="34" charset="0"/>
              </a:rPr>
              <a:t>fallback locator`rvars_map hints`rfield_type + context</a:t>
            </a:r>
            <a:endParaRPr lang="en-IN" sz="1200"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1BF16D-DC00-4BB6-2250-49C8FB367875}"/>
              </a:ext>
            </a:extLst>
          </p:cNvPr>
          <p:cNvSpPr/>
          <p:nvPr/>
        </p:nvSpPr>
        <p:spPr>
          <a:xfrm>
            <a:off x="3581400" y="1371600"/>
            <a:ext cx="2794000" cy="1219200"/>
          </a:xfrm>
          <a:prstGeom prst="rect">
            <a:avLst/>
          </a:prstGeom>
          <a:solidFill>
            <a:srgbClr val="E6E6E6"/>
          </a:solidFill>
          <a:ln>
            <a:solidFill>
              <a:srgbClr val="AAAA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lang="en-IN" sz="1200" b="1">
                <a:latin typeface="Segoe UI" panose="020B0502040204020203" pitchFamily="34" charset="0"/>
              </a:rPr>
              <a:t>2) Strategy Builder</a:t>
            </a:r>
          </a:p>
          <a:p>
            <a:pPr algn="ctr">
              <a:spcAft>
                <a:spcPts val="400"/>
              </a:spcAft>
            </a:pPr>
            <a:r>
              <a:rPr lang="en-IN" sz="1200">
                <a:latin typeface="Segoe UI" panose="020B0502040204020203" pitchFamily="34" charset="0"/>
              </a:rPr>
              <a:t>templates + label/text`raxis/attribute/checkbox`rposition candidates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AC10D8-BEAD-F92A-BACD-EB4D555CCBDF}"/>
              </a:ext>
            </a:extLst>
          </p:cNvPr>
          <p:cNvSpPr/>
          <p:nvPr/>
        </p:nvSpPr>
        <p:spPr>
          <a:xfrm>
            <a:off x="6705600" y="1371600"/>
            <a:ext cx="2794000" cy="1219200"/>
          </a:xfrm>
          <a:prstGeom prst="rect">
            <a:avLst/>
          </a:prstGeom>
          <a:solidFill>
            <a:srgbClr val="E0E0E0"/>
          </a:solidFill>
          <a:ln>
            <a:solidFill>
              <a:srgbClr val="AAAA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lang="en-IN" sz="1200" b="1">
                <a:latin typeface="Segoe UI" panose="020B0502040204020203" pitchFamily="34" charset="0"/>
              </a:rPr>
              <a:t>3) Healing Service</a:t>
            </a:r>
          </a:p>
          <a:p>
            <a:pPr algn="ctr">
              <a:spcAft>
                <a:spcPts val="400"/>
              </a:spcAft>
            </a:pPr>
            <a:r>
              <a:rPr lang="en-IN" sz="1200">
                <a:latin typeface="Segoe UI" panose="020B0502040204020203" pitchFamily="34" charset="0"/>
              </a:rPr>
              <a:t>fallback -&gt; metadata -&gt; rules`rfingerprint -&gt; page_index`rsignature -&gt; dom/rag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4BC9BB-8F01-7CC5-A618-E7BAFF438994}"/>
              </a:ext>
            </a:extLst>
          </p:cNvPr>
          <p:cNvSpPr/>
          <p:nvPr/>
        </p:nvSpPr>
        <p:spPr>
          <a:xfrm>
            <a:off x="9829800" y="1371600"/>
            <a:ext cx="2794000" cy="1219200"/>
          </a:xfrm>
          <a:prstGeom prst="rect">
            <a:avLst/>
          </a:prstGeom>
          <a:solidFill>
            <a:srgbClr val="DEDEDE"/>
          </a:solidFill>
          <a:ln>
            <a:solidFill>
              <a:srgbClr val="AAAA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lang="en-US" sz="1200" b="1">
                <a:latin typeface="Segoe UI" panose="020B0502040204020203" pitchFamily="34" charset="0"/>
              </a:rPr>
              <a:t>4) Validator + Output</a:t>
            </a:r>
          </a:p>
          <a:p>
            <a:pPr algn="ctr">
              <a:spcAft>
                <a:spcPts val="400"/>
              </a:spcAft>
            </a:pPr>
            <a:r>
              <a:rPr lang="en-US" sz="1200">
                <a:latin typeface="Segoe UI" panose="020B0502040204020203" pitchFamily="34" charset="0"/>
              </a:rPr>
              <a:t>type/text/visibility gates`rselected locator + strategy`rtrace + quality metrics</a:t>
            </a:r>
            <a:endParaRPr lang="en-IN" sz="1200">
              <a:latin typeface="Segoe UI" panose="020B0502040204020203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2039EB2-0EBD-3F34-D67D-73FA73E187D4}"/>
              </a:ext>
            </a:extLst>
          </p:cNvPr>
          <p:cNvSpPr/>
          <p:nvPr/>
        </p:nvSpPr>
        <p:spPr>
          <a:xfrm>
            <a:off x="3302000" y="1803400"/>
            <a:ext cx="228600" cy="3302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5DAF6A7-7A6E-E79B-0743-DBCEF1822960}"/>
              </a:ext>
            </a:extLst>
          </p:cNvPr>
          <p:cNvSpPr/>
          <p:nvPr/>
        </p:nvSpPr>
        <p:spPr>
          <a:xfrm>
            <a:off x="6426200" y="1803400"/>
            <a:ext cx="228600" cy="3302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F4EE3A8-4EA2-D9CC-0166-2EC1C2BC5E8C}"/>
              </a:ext>
            </a:extLst>
          </p:cNvPr>
          <p:cNvSpPr/>
          <p:nvPr/>
        </p:nvSpPr>
        <p:spPr>
          <a:xfrm>
            <a:off x="9550400" y="1803400"/>
            <a:ext cx="228600" cy="330200"/>
          </a:xfrm>
          <a:prstGeom prst="rightArrow">
            <a:avLst/>
          </a:prstGeom>
          <a:solidFill>
            <a:srgbClr val="AAAA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8D7D4D-9F80-A820-550A-AA73CAC04322}"/>
              </a:ext>
            </a:extLst>
          </p:cNvPr>
          <p:cNvSpPr/>
          <p:nvPr/>
        </p:nvSpPr>
        <p:spPr>
          <a:xfrm>
            <a:off x="457200" y="2997200"/>
            <a:ext cx="11277600" cy="1168400"/>
          </a:xfrm>
          <a:prstGeom prst="rect">
            <a:avLst/>
          </a:prstGeom>
          <a:solidFill>
            <a:srgbClr val="E4F2F7"/>
          </a:solidFill>
          <a:ln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>
                <a:latin typeface="Segoe UI" panose="020B0502040204020203" pitchFamily="34" charset="0"/>
              </a:rPr>
              <a:t>Cross-Cutting Layers: Metadata Repository (Memory/JSON/Postgres dual), Adapter Abstraction (Playwright/Selenium), Config-Driven Stage Switches, HTML/JUnit/JSONL Reporting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8412B3-1070-A70B-A3A0-1568EA95794D}"/>
              </a:ext>
            </a:extLst>
          </p:cNvPr>
          <p:cNvSpPr txBox="1"/>
          <p:nvPr/>
        </p:nvSpPr>
        <p:spPr>
          <a:xfrm>
            <a:off x="457200" y="4292600"/>
            <a:ext cx="112776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434343"/>
                </a:solidFill>
                <a:latin typeface="Segoe UI" panose="020B0502040204020203" pitchFamily="34" charset="0"/>
              </a:rPr>
              <a:t>Why this design: deterministic first, auditable traces, reusable metadata, controlled fallback behavior, and safer locator acceptance via validation gates.</a:t>
            </a:r>
            <a:endParaRPr lang="en-IN" sz="1200">
              <a:solidFill>
                <a:srgbClr val="43434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570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Neelabh Srivastava</dc:creator>
  <cp:lastModifiedBy>Neelabh Srivastava</cp:lastModifiedBy>
  <cp:revision>1</cp:revision>
  <dcterms:created xsi:type="dcterms:W3CDTF">2026-04-15T05:51:40Z</dcterms:created>
  <dcterms:modified xsi:type="dcterms:W3CDTF">2026-04-15T05:51:40Z</dcterms:modified>
</cp:coreProperties>
</file>