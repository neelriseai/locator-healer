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D56C-BD4B-B135-F2FD-2C7EE3097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7B4DD-7C2B-4325-241D-0BBD7C7FA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17C8-EC2C-E702-DDEF-5C83AB60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6C1B-52AD-AD69-8798-D39D27D7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99F6A-B5DA-A446-062F-07760809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74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93EA-8FB5-4B44-E8DD-BB74E626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B878-7CB7-0EDE-AF80-E2C2624D1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C41C7-547D-9621-07CF-1D40662E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82FA-6CB7-B4FA-F094-B76B37A7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AEADE-E8D7-76C6-539F-A4EAFECD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B459-37C1-F4F4-48B4-F0F83BE5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662CE-F00A-1E0D-362D-1179DACAE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B130-93C2-9998-45E4-16049A3F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3736-3AC8-0DD1-3EDB-E81791F8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5C157-F266-9B2E-8A33-E5B82D33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81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801D-5DAE-FD87-5AE7-860CA0F9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15CEB-4D23-8109-6F5D-76A23E63B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BC326-D23C-314B-A56A-A52B85B6C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C7D34-F0B7-8367-71AA-38C17F82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353C-F292-2F23-5B20-AF1F3CED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0F9CE-38DF-65E1-12ED-5548432A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8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140B-8F6A-9F90-6D55-33B896F5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6BA94-2715-D43D-F2D7-54598BDEC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21954-0B0D-FF7E-22DA-B4D7060E2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6FAB1-BE02-1A14-6871-D96102384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A14DF-E0F8-EA21-BE35-EFEF07893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149F6-7A3C-F76D-FF30-F084BF9E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8080A-817E-80FE-7999-1470B9C1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47DEF-F648-3D96-C1B4-56811805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9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83DB-248F-2038-EC0C-06550B1E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B7E1D-3458-74DA-263E-E81FDE88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BBB14-B657-B1F6-6F05-2FE2F25C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343D-779F-EC0E-8BA9-18418F83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1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C6D60-4BCA-ACDA-31EF-33CD8E9A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EB6A4-C9DE-BCBF-4686-BDA4BB4C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6F53-1A2F-6CC9-C9B8-818D771D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1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DA75-61B2-7A55-67F2-F6258527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5A7F-E5F0-96C7-D6C7-E3732464E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8C9E4-B2A9-0E5A-D902-66494EB8B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FF110-8470-5C7A-004C-93E41DCC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C6652-0C1B-9B89-1AA4-F4DA81EF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CDC90-CB95-7699-E4FF-9F498BE0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79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3F6A-B315-BB1F-7483-16C7BA60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4BD67-F65C-84A1-BFCD-AB5990DD4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7FEF8-EFE0-94A9-DCCB-38F738455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3FE3-AC02-0C1F-A8A1-1F274DA9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8BB35-C68A-44B2-5AB6-62898F39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B670D-0382-9CA3-77AB-79868A6B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58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50E8-EEBF-DBD4-7423-9D6DA7E8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88CEE-013C-4A4A-F437-28975B31D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11E5F-2A8C-E32C-711B-BA5A26F2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477D-ACC5-3559-97CB-885653AD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FEAA7-01E2-FF07-F4FB-1795B8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84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DD27C-F5AA-2E04-4CEE-60C785457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F0591-6C12-3648-227D-81676E188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C4DC5-29A6-BBAF-CDD1-CD37EAD4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0E7AB-50BE-2BFE-CE82-5BCBC79D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644C2-F141-774B-1A9C-F45609ED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51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70953-DDDA-0310-CF73-DF853DD3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9917C-224E-F475-DC52-E5B1EE3A3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0600D-03B7-8D17-7A76-E2F943B20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18F1-604B-46BC-B6D5-B281431F1940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CE878-7190-60F1-5E20-7054DE67A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2D519-21A8-E1C0-65D5-86866732F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3270-A44E-48B2-812E-802312233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00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546A7-699F-4612-7A45-2109F1210634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79913-A34A-C20F-24C3-DCE49F7CE5D7}"/>
              </a:ext>
            </a:extLst>
          </p:cNvPr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4151-DA78-5BBA-5D0B-1F0246ABF7FB}"/>
              </a:ext>
            </a:extLst>
          </p:cNvPr>
          <p:cNvSpPr txBox="1"/>
          <p:nvPr/>
        </p:nvSpPr>
        <p:spPr>
          <a:xfrm>
            <a:off x="355600" y="177800"/>
            <a:ext cx="84328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000000"/>
                </a:solidFill>
                <a:latin typeface="Segoe UI Semibold" panose="020B0702040204020203" pitchFamily="34" charset="0"/>
              </a:rPr>
              <a:t>XPath Healer Architecture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6A32B-FEAA-0EFD-1DDB-0797292968FA}"/>
              </a:ext>
            </a:extLst>
          </p:cNvPr>
          <p:cNvSpPr txBox="1"/>
          <p:nvPr/>
        </p:nvSpPr>
        <p:spPr>
          <a:xfrm>
            <a:off x="381000" y="609600"/>
            <a:ext cx="838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</a:rPr>
              <a:t>Deterministic-first healing with validation, metadata reuse, and traceable outputs</a:t>
            </a:r>
            <a:endParaRPr lang="en-IN" sz="14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83A57-D1AE-58D6-7EBD-BF1DCECB9724}"/>
              </a:ext>
            </a:extLst>
          </p:cNvPr>
          <p:cNvSpPr/>
          <p:nvPr/>
        </p:nvSpPr>
        <p:spPr>
          <a:xfrm>
            <a:off x="304800" y="1333500"/>
            <a:ext cx="3683000" cy="2095500"/>
          </a:xfrm>
          <a:prstGeom prst="rect">
            <a:avLst/>
          </a:prstGeom>
          <a:solidFill>
            <a:srgbClr val="FFFFF5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A1EDF-8FDC-3F8E-091D-CD55B5359012}"/>
              </a:ext>
            </a:extLst>
          </p:cNvPr>
          <p:cNvSpPr txBox="1"/>
          <p:nvPr/>
        </p:nvSpPr>
        <p:spPr>
          <a:xfrm>
            <a:off x="457200" y="1460500"/>
            <a:ext cx="3378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0000"/>
                </a:solidFill>
                <a:latin typeface="Segoe UI Semibold" panose="020B0702040204020203" pitchFamily="34" charset="0"/>
              </a:rPr>
              <a:t>1. Input Contract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17931-5BE4-AF97-2B41-97FC1071E85A}"/>
              </a:ext>
            </a:extLst>
          </p:cNvPr>
          <p:cNvSpPr txBox="1"/>
          <p:nvPr/>
        </p:nvSpPr>
        <p:spPr>
          <a:xfrm>
            <a:off x="457200" y="1866900"/>
            <a:ext cx="3378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app/page/element context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field_type + vars_map hints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broken fallback locator</a:t>
            </a:r>
            <a:endParaRPr lang="en-IN" sz="13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8614D-2A86-A668-AE82-2AD1924C0D99}"/>
              </a:ext>
            </a:extLst>
          </p:cNvPr>
          <p:cNvSpPr/>
          <p:nvPr/>
        </p:nvSpPr>
        <p:spPr>
          <a:xfrm>
            <a:off x="4267200" y="1333500"/>
            <a:ext cx="3683000" cy="2095500"/>
          </a:xfrm>
          <a:prstGeom prst="rect">
            <a:avLst/>
          </a:prstGeom>
          <a:solidFill>
            <a:srgbClr val="FFFFF2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2CCE7-4C8C-9A02-B675-6B5E593A28AD}"/>
              </a:ext>
            </a:extLst>
          </p:cNvPr>
          <p:cNvSpPr txBox="1"/>
          <p:nvPr/>
        </p:nvSpPr>
        <p:spPr>
          <a:xfrm>
            <a:off x="4419600" y="1460500"/>
            <a:ext cx="3378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0000"/>
                </a:solidFill>
                <a:latin typeface="Segoe UI Semibold" panose="020B0702040204020203" pitchFamily="34" charset="0"/>
              </a:rPr>
              <a:t>2. Candidate Builder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9122E-8C2D-6578-ED6F-438EC6C4A308}"/>
              </a:ext>
            </a:extLst>
          </p:cNvPr>
          <p:cNvSpPr txBox="1"/>
          <p:nvPr/>
        </p:nvSpPr>
        <p:spPr>
          <a:xfrm>
            <a:off x="4419600" y="1866900"/>
            <a:ext cx="3378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templates + rule strategies</a:t>
            </a:r>
          </a:p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label/text/axis/attribute paths</a:t>
            </a:r>
          </a:p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multiple locator candidates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83E6D-8FF1-9927-18FD-E8CC75BF428C}"/>
              </a:ext>
            </a:extLst>
          </p:cNvPr>
          <p:cNvSpPr/>
          <p:nvPr/>
        </p:nvSpPr>
        <p:spPr>
          <a:xfrm>
            <a:off x="8229600" y="1333500"/>
            <a:ext cx="3683000" cy="2095500"/>
          </a:xfrm>
          <a:prstGeom prst="rect">
            <a:avLst/>
          </a:prstGeom>
          <a:solidFill>
            <a:srgbClr val="F0FFF0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B79B66-DAE0-A532-90D5-9523A4EBC5E4}"/>
              </a:ext>
            </a:extLst>
          </p:cNvPr>
          <p:cNvSpPr txBox="1"/>
          <p:nvPr/>
        </p:nvSpPr>
        <p:spPr>
          <a:xfrm>
            <a:off x="8382000" y="1460500"/>
            <a:ext cx="3378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0000"/>
                </a:solidFill>
                <a:latin typeface="Segoe UI Semibold" panose="020B0702040204020203" pitchFamily="34" charset="0"/>
              </a:rPr>
              <a:t>3. Healing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42FAD-3FB6-9E54-02E4-067E9CE6FB94}"/>
              </a:ext>
            </a:extLst>
          </p:cNvPr>
          <p:cNvSpPr txBox="1"/>
          <p:nvPr/>
        </p:nvSpPr>
        <p:spPr>
          <a:xfrm>
            <a:off x="8382000" y="1866900"/>
            <a:ext cx="33782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fallback -&gt; metadata -&gt; rules</a:t>
            </a:r>
          </a:p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fingerprint -&gt; page_index -&gt; signature</a:t>
            </a:r>
          </a:p>
          <a:p>
            <a:pPr>
              <a:spcAft>
                <a:spcPts val="300"/>
              </a:spcAft>
            </a:pPr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dom_mining -&gt; defaults -&gt; position -&gt; optional rag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C173CA-AA25-2621-37D9-A4D2D4CDFC8F}"/>
              </a:ext>
            </a:extLst>
          </p:cNvPr>
          <p:cNvSpPr/>
          <p:nvPr/>
        </p:nvSpPr>
        <p:spPr>
          <a:xfrm>
            <a:off x="12192000" y="1333500"/>
            <a:ext cx="3683000" cy="2095500"/>
          </a:xfrm>
          <a:prstGeom prst="rect">
            <a:avLst/>
          </a:prstGeom>
          <a:solidFill>
            <a:srgbClr val="EFF0EE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4DC0D-04B4-C997-F16F-6FF0FC393613}"/>
              </a:ext>
            </a:extLst>
          </p:cNvPr>
          <p:cNvSpPr txBox="1"/>
          <p:nvPr/>
        </p:nvSpPr>
        <p:spPr>
          <a:xfrm>
            <a:off x="12344400" y="1460500"/>
            <a:ext cx="3378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0000"/>
                </a:solidFill>
                <a:latin typeface="Segoe UI Semibold" panose="020B0702040204020203" pitchFamily="34" charset="0"/>
              </a:rPr>
              <a:t>4. Validation +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BD9B2-C9B8-18D1-3C5C-AA68B1DD074A}"/>
              </a:ext>
            </a:extLst>
          </p:cNvPr>
          <p:cNvSpPr txBox="1"/>
          <p:nvPr/>
        </p:nvSpPr>
        <p:spPr>
          <a:xfrm>
            <a:off x="12344400" y="1866900"/>
            <a:ext cx="3378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type/text/visibility checks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strict_single_match + occurrence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selected locator + strategy + trace</a:t>
            </a:r>
            <a:endParaRPr lang="en-IN" sz="13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34CA55A-F10D-636B-1C48-08A2B9EC3CCE}"/>
              </a:ext>
            </a:extLst>
          </p:cNvPr>
          <p:cNvSpPr/>
          <p:nvPr/>
        </p:nvSpPr>
        <p:spPr>
          <a:xfrm>
            <a:off x="4025900" y="2146300"/>
            <a:ext cx="177800" cy="254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072F967-8F38-680F-7B12-5E00FFFDCCE5}"/>
              </a:ext>
            </a:extLst>
          </p:cNvPr>
          <p:cNvSpPr/>
          <p:nvPr/>
        </p:nvSpPr>
        <p:spPr>
          <a:xfrm>
            <a:off x="7988300" y="2146300"/>
            <a:ext cx="177800" cy="254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91D24DC-A7CF-1779-A9BD-8F30CBA997B9}"/>
              </a:ext>
            </a:extLst>
          </p:cNvPr>
          <p:cNvSpPr/>
          <p:nvPr/>
        </p:nvSpPr>
        <p:spPr>
          <a:xfrm>
            <a:off x="11950700" y="2146300"/>
            <a:ext cx="177800" cy="254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8FDBCA-21A1-2B2C-3D5F-57C29AC18D51}"/>
              </a:ext>
            </a:extLst>
          </p:cNvPr>
          <p:cNvSpPr/>
          <p:nvPr/>
        </p:nvSpPr>
        <p:spPr>
          <a:xfrm>
            <a:off x="304800" y="3708400"/>
            <a:ext cx="4114800" cy="1651000"/>
          </a:xfrm>
          <a:prstGeom prst="rect">
            <a:avLst/>
          </a:prstGeom>
          <a:solidFill>
            <a:srgbClr val="F5F6F7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897FF-DC2A-1B24-DAE5-D15214468D37}"/>
              </a:ext>
            </a:extLst>
          </p:cNvPr>
          <p:cNvSpPr txBox="1"/>
          <p:nvPr/>
        </p:nvSpPr>
        <p:spPr>
          <a:xfrm>
            <a:off x="457200" y="3835400"/>
            <a:ext cx="3810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Cross-cutting capabilities:</a:t>
            </a:r>
          </a:p>
          <a:p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Playwright + Selenium adapters</a:t>
            </a:r>
          </a:p>
          <a:p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Metadata store (Memory/JSON/Postgres Dual)</a:t>
            </a:r>
          </a:p>
          <a:p>
            <a:r>
              <a:rPr lang="en-IN" sz="1300">
                <a:solidFill>
                  <a:srgbClr val="000000"/>
                </a:solidFill>
                <a:latin typeface="Segoe UI" panose="020B0502040204020203" pitchFamily="34" charset="0"/>
              </a:rPr>
              <a:t>- Config-driven stage toggles + retries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713D8F-E549-9787-C182-CDE3C048A31D}"/>
              </a:ext>
            </a:extLst>
          </p:cNvPr>
          <p:cNvSpPr/>
          <p:nvPr/>
        </p:nvSpPr>
        <p:spPr>
          <a:xfrm>
            <a:off x="4724400" y="3708400"/>
            <a:ext cx="4114800" cy="1651000"/>
          </a:xfrm>
          <a:prstGeom prst="rect">
            <a:avLst/>
          </a:prstGeom>
          <a:solidFill>
            <a:srgbClr val="F5F6F7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9A031-8163-D24E-6E99-29DE08EDC162}"/>
              </a:ext>
            </a:extLst>
          </p:cNvPr>
          <p:cNvSpPr txBox="1"/>
          <p:nvPr/>
        </p:nvSpPr>
        <p:spPr>
          <a:xfrm>
            <a:off x="4876800" y="3835400"/>
            <a:ext cx="3810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Observability outputs:</a:t>
            </a:r>
          </a:p>
          <a:p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Strategy trace per recovery</a:t>
            </a:r>
          </a:p>
          <a:p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fallback_xpath + healed locator logs</a:t>
            </a:r>
          </a:p>
          <a:p>
            <a:r>
              <a:rPr lang="en-US" sz="1300">
                <a:solidFill>
                  <a:srgbClr val="000000"/>
                </a:solidFill>
                <a:latin typeface="Segoe UI" panose="020B0502040204020203" pitchFamily="34" charset="0"/>
              </a:rPr>
              <a:t>- JSONL, JUnit, and HTML integration report</a:t>
            </a:r>
            <a:endParaRPr lang="en-IN" sz="13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CA610-366F-0E29-6849-0DDBB2ECBF2D}"/>
              </a:ext>
            </a:extLst>
          </p:cNvPr>
          <p:cNvSpPr txBox="1"/>
          <p:nvPr/>
        </p:nvSpPr>
        <p:spPr>
          <a:xfrm>
            <a:off x="304800" y="5359400"/>
            <a:ext cx="8534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Segoe UI" panose="020B0502040204020203" pitchFamily="34" charset="0"/>
              </a:rPr>
              <a:t>Architecture Summary - high readability version</a:t>
            </a:r>
            <a:endParaRPr lang="en-IN" sz="11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3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On-screen Show (16:10)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Neelabh Srivastava</dc:creator>
  <cp:lastModifiedBy>Neelabh Srivastava</cp:lastModifiedBy>
  <cp:revision>1</cp:revision>
  <dcterms:created xsi:type="dcterms:W3CDTF">2026-04-15T05:57:00Z</dcterms:created>
  <dcterms:modified xsi:type="dcterms:W3CDTF">2026-04-15T05:57:00Z</dcterms:modified>
</cp:coreProperties>
</file>