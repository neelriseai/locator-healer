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984" y="-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3B30-7496-BB66-E40B-8C8CB6539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FD329-A1EF-1E8B-DAE2-1D14D0588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0BB09-B1EB-17B7-0893-C1A14173C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8B8D-9695-516F-F7EC-A61209AEC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A8D66-0CF4-7014-3A4C-B023597B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35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91C74-8400-BDB0-045B-CB48F6D5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161E-D131-C38B-A1DF-1FF965FCF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54CBF-0AF2-E167-3988-18CABA0E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51D7D-DF7B-C109-55A2-AE60359C0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BCC18-5B4B-AA0B-E9E1-F0E4AC8C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99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AFC3-3B3C-94F9-104E-F18EB7856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4B6B2-659A-BDA0-683C-B2545535F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F2E7C-5353-B8C8-9D45-DDC18C2A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2BA71-3574-74E5-E8AE-26A8E4483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E3B30-AF88-6559-F214-708D776C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436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7E68-AFA0-AF5F-063C-A1833D13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6943-3CDD-A813-7303-A8F37A499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9D437-CF3C-2688-DCB0-6FAFC3265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116CA-3ED6-8868-6364-7D030AD8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24B58-01A5-BD2E-2E8E-A3157DAD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A416B-8CE0-34F3-9550-40CB4656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93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0937-7C2E-06BC-754A-CE3EF087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9BFFF-4EAE-CE58-255E-6452A77BA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DBA84-7212-C7AA-FC0B-480DDE4A5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DA31A4-4835-DC31-EB35-48F3B0CC5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7BF0C3-6626-382A-BF4B-C2DC2DE03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543CD4-DB3E-AD11-C106-CDFFD1A34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96195-C4F3-E66C-D769-7A48E489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3C771-8A58-446B-53C5-88CE4899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761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70FC-E737-B7D1-BC8D-E38B029A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0E3B8-7DD8-D2EC-60EB-D51F6B50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A44E0E-975F-68DA-77EA-B4EDFE6F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5B505-818F-E4CC-3F20-044BEAF8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4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4FC73-7183-2D83-EB38-4F5316D3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95F0A7-7D56-2B2F-669A-2354531B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B157-EAFF-1280-1C52-CBAA816A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9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FCA8-BBFC-D165-819C-387C21BF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9A3C-6C93-4338-2EEB-16DD30E13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6E788-FBA8-9E37-9140-939BB897B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49D60-0AD3-0C83-3C72-AF8023A10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C88D8-03D6-D526-A059-6C2290B3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D024E-871A-439D-A4E6-4B4A7FD3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46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2EB3-BF4A-DFFD-38B0-20023C4D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CD4C8-D40E-F78A-9788-60FACDC39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7C536-9F85-5FBA-B722-B5049AD26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B7CBF-B8CF-BE9C-AD20-ADF8D8D33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7EC13-0468-34A5-915D-CD16EC4F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C60A6-A997-3A79-7857-D131695E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738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53B7-6E14-119E-B425-47859D9FF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5C2B8B-18E0-60E5-8F27-BE680FCAB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44E74-8746-5C12-C286-0B4ADF1FA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91FAB-2A94-F2F3-171F-66085871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697E9-4FCC-D18E-B447-0B6903B1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08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013AC-6FE4-A062-17E3-799A3DF17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00DAE-C305-D58A-3A4C-EEA9A0D7C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BE9E3-F4AE-90EF-1EF3-CE4FB9189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916B-B1B9-5162-A7DF-4FCC6E8D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031B0-B714-79F8-7F53-111F6BB0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67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F6D4CF-53A6-9A70-EFDF-20EFF7A0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9D7F2-E93E-A48E-302A-C9FF89641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E62A2-1DC7-66A8-1529-1804FE0DB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27074-F648-4378-99AA-7A4D6D31263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48379-69BA-DD29-7397-BC71F61C2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3755D-01BD-F89D-DCE8-473310D4E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89DB7-D340-48FF-8CBF-BAE60FF0A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2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AC2361-4FCF-942D-027B-6CB83ED3FD58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A3AE63-3FDB-B76C-78FD-2712DC9AF1A9}"/>
              </a:ext>
            </a:extLst>
          </p:cNvPr>
          <p:cNvSpPr/>
          <p:nvPr/>
        </p:nvSpPr>
        <p:spPr>
          <a:xfrm>
            <a:off x="0" y="0"/>
            <a:ext cx="9144000" cy="787400"/>
          </a:xfrm>
          <a:prstGeom prst="rect">
            <a:avLst/>
          </a:prstGeom>
          <a:solidFill>
            <a:srgbClr val="EEF6E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DD1A59-E5D2-8B97-F799-348F7C0F4979}"/>
              </a:ext>
            </a:extLst>
          </p:cNvPr>
          <p:cNvSpPr txBox="1"/>
          <p:nvPr/>
        </p:nvSpPr>
        <p:spPr>
          <a:xfrm>
            <a:off x="228600" y="127000"/>
            <a:ext cx="8686800" cy="70275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2200" b="1">
                <a:solidFill>
                  <a:srgbClr val="000000"/>
                </a:solidFill>
                <a:latin typeface="Segoe UI Semibold" panose="020B0702040204020203" pitchFamily="34" charset="0"/>
              </a:rPr>
              <a:t>XPath Healer Runtime Architecture - Sequential + Parallel + RAG Retry</a:t>
            </a:r>
            <a:endParaRPr lang="en-IN" sz="22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FE3064-9454-593C-9DE4-98C9A9BBA5E1}"/>
              </a:ext>
            </a:extLst>
          </p:cNvPr>
          <p:cNvSpPr/>
          <p:nvPr/>
        </p:nvSpPr>
        <p:spPr>
          <a:xfrm>
            <a:off x="203200" y="939800"/>
            <a:ext cx="5461000" cy="5715000"/>
          </a:xfrm>
          <a:prstGeom prst="rect">
            <a:avLst/>
          </a:prstGeom>
          <a:solidFill>
            <a:srgbClr val="F7F7F7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2ADC18-256C-1CA3-76DA-9CC0C69E1097}"/>
              </a:ext>
            </a:extLst>
          </p:cNvPr>
          <p:cNvSpPr/>
          <p:nvPr/>
        </p:nvSpPr>
        <p:spPr>
          <a:xfrm>
            <a:off x="5765800" y="939800"/>
            <a:ext cx="6223000" cy="5715000"/>
          </a:xfrm>
          <a:prstGeom prst="rect">
            <a:avLst/>
          </a:prstGeom>
          <a:solidFill>
            <a:srgbClr val="F5F6F7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B3914-9C20-EEDF-DA7B-F4F634592116}"/>
              </a:ext>
            </a:extLst>
          </p:cNvPr>
          <p:cNvSpPr txBox="1"/>
          <p:nvPr/>
        </p:nvSpPr>
        <p:spPr>
          <a:xfrm>
            <a:off x="330200" y="1016000"/>
            <a:ext cx="5207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300" b="1">
                <a:solidFill>
                  <a:srgbClr val="000000"/>
                </a:solidFill>
                <a:latin typeface="Segoe UI Semibold" panose="020B0702040204020203" pitchFamily="34" charset="0"/>
              </a:rPr>
              <a:t>A) Main Coroutine: Sequential Stage Clock</a:t>
            </a:r>
            <a:endParaRPr lang="en-IN" sz="13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D23934-D545-E8BA-BF99-6616A0E98463}"/>
              </a:ext>
            </a:extLst>
          </p:cNvPr>
          <p:cNvSpPr/>
          <p:nvPr/>
        </p:nvSpPr>
        <p:spPr>
          <a:xfrm>
            <a:off x="304800" y="1371600"/>
            <a:ext cx="5257800" cy="3746500"/>
          </a:xfrm>
          <a:prstGeom prst="rect">
            <a:avLst/>
          </a:prstGeom>
          <a:solidFill>
            <a:srgbClr val="EEFFEE"/>
          </a:solidFill>
          <a:ln>
            <a:solidFill>
              <a:srgbClr val="CECEC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7FAC6-6F61-C87F-42DE-FAE86F74686F}"/>
              </a:ext>
            </a:extLst>
          </p:cNvPr>
          <p:cNvSpPr txBox="1"/>
          <p:nvPr/>
        </p:nvSpPr>
        <p:spPr>
          <a:xfrm>
            <a:off x="381000" y="1397000"/>
            <a:ext cx="2794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 b="1">
                <a:solidFill>
                  <a:srgbClr val="000000"/>
                </a:solidFill>
                <a:latin typeface="Segoe UI Semibold" panose="020B0702040204020203" pitchFamily="34" charset="0"/>
              </a:rPr>
              <a:t>Deterministic Layer (T0 to T8)</a:t>
            </a:r>
            <a:endParaRPr lang="en-IN" sz="10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2EAB65-CE81-A78A-7662-F82716734CD1}"/>
              </a:ext>
            </a:extLst>
          </p:cNvPr>
          <p:cNvSpPr/>
          <p:nvPr/>
        </p:nvSpPr>
        <p:spPr>
          <a:xfrm>
            <a:off x="304800" y="5194300"/>
            <a:ext cx="5257800" cy="1244600"/>
          </a:xfrm>
          <a:prstGeom prst="rect">
            <a:avLst/>
          </a:prstGeom>
          <a:solidFill>
            <a:srgbClr val="E0F8FC"/>
          </a:solidFill>
          <a:ln>
            <a:solidFill>
              <a:srgbClr val="D7D7D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09BA3A-B98F-1C43-2D3B-6D61AB55689B}"/>
              </a:ext>
            </a:extLst>
          </p:cNvPr>
          <p:cNvSpPr txBox="1"/>
          <p:nvPr/>
        </p:nvSpPr>
        <p:spPr>
          <a:xfrm>
            <a:off x="508000" y="5353516"/>
            <a:ext cx="2667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IN" sz="1000" b="1" dirty="0">
                <a:solidFill>
                  <a:srgbClr val="000000"/>
                </a:solidFill>
                <a:latin typeface="Segoe UI Semibold" panose="020B0702040204020203" pitchFamily="34" charset="0"/>
              </a:rPr>
              <a:t>LLM / RAG Layer (T9)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C9A1AED-7200-5379-57FC-91B1AC0DE5C1}"/>
              </a:ext>
            </a:extLst>
          </p:cNvPr>
          <p:cNvSpPr/>
          <p:nvPr/>
        </p:nvSpPr>
        <p:spPr>
          <a:xfrm>
            <a:off x="508000" y="1625600"/>
            <a:ext cx="203200" cy="203200"/>
          </a:xfrm>
          <a:prstGeom prst="ellipse">
            <a:avLst/>
          </a:prstGeom>
          <a:solidFill>
            <a:srgbClr val="FFFF00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80994D-0145-FB5E-0565-F137076DFBAA}"/>
              </a:ext>
            </a:extLst>
          </p:cNvPr>
          <p:cNvSpPr txBox="1"/>
          <p:nvPr/>
        </p:nvSpPr>
        <p:spPr>
          <a:xfrm>
            <a:off x="838200" y="1612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T0 fallback (S)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EE8935-F9F4-8AD7-9BA2-B174E35960A2}"/>
              </a:ext>
            </a:extLst>
          </p:cNvPr>
          <p:cNvCxnSpPr/>
          <p:nvPr/>
        </p:nvCxnSpPr>
        <p:spPr>
          <a:xfrm>
            <a:off x="609600" y="1828800"/>
            <a:ext cx="0" cy="1778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90EFCEF-E2F8-EF09-DDC9-5A84000E73B9}"/>
              </a:ext>
            </a:extLst>
          </p:cNvPr>
          <p:cNvSpPr/>
          <p:nvPr/>
        </p:nvSpPr>
        <p:spPr>
          <a:xfrm>
            <a:off x="508000" y="2006600"/>
            <a:ext cx="203200" cy="203200"/>
          </a:xfrm>
          <a:prstGeom prst="ellipse">
            <a:avLst/>
          </a:prstGeom>
          <a:solidFill>
            <a:srgbClr val="D1CE00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997B9E-E34B-BF53-9F62-2467F96584BA}"/>
              </a:ext>
            </a:extLst>
          </p:cNvPr>
          <p:cNvSpPr txBox="1"/>
          <p:nvPr/>
        </p:nvSpPr>
        <p:spPr>
          <a:xfrm>
            <a:off x="838200" y="1993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T1 metadata (P candidates)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8B4B47-06AE-FA8F-1C04-CF2781495160}"/>
              </a:ext>
            </a:extLst>
          </p:cNvPr>
          <p:cNvCxnSpPr/>
          <p:nvPr/>
        </p:nvCxnSpPr>
        <p:spPr>
          <a:xfrm>
            <a:off x="609600" y="2209800"/>
            <a:ext cx="0" cy="1778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4C3F00F-B81D-D205-C80E-A9829BF3DA78}"/>
              </a:ext>
            </a:extLst>
          </p:cNvPr>
          <p:cNvSpPr/>
          <p:nvPr/>
        </p:nvSpPr>
        <p:spPr>
          <a:xfrm>
            <a:off x="508000" y="2387600"/>
            <a:ext cx="203200" cy="203200"/>
          </a:xfrm>
          <a:prstGeom prst="ellipse">
            <a:avLst/>
          </a:prstGeom>
          <a:solidFill>
            <a:srgbClr val="FFA500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C5FD6-D4D0-44E0-0E6B-71C41133B5E8}"/>
              </a:ext>
            </a:extLst>
          </p:cNvPr>
          <p:cNvSpPr txBox="1"/>
          <p:nvPr/>
        </p:nvSpPr>
        <p:spPr>
          <a:xfrm>
            <a:off x="838200" y="2374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T2 rules (P candidates)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B01487-3CD4-9807-4251-7E19A651CAA0}"/>
              </a:ext>
            </a:extLst>
          </p:cNvPr>
          <p:cNvCxnSpPr/>
          <p:nvPr/>
        </p:nvCxnSpPr>
        <p:spPr>
          <a:xfrm>
            <a:off x="609600" y="2590800"/>
            <a:ext cx="0" cy="1778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33C87AA-34B1-B37B-7E64-13CCBA3D04B4}"/>
              </a:ext>
            </a:extLst>
          </p:cNvPr>
          <p:cNvSpPr/>
          <p:nvPr/>
        </p:nvSpPr>
        <p:spPr>
          <a:xfrm>
            <a:off x="508000" y="2768600"/>
            <a:ext cx="203200" cy="203200"/>
          </a:xfrm>
          <a:prstGeom prst="ellipse">
            <a:avLst/>
          </a:prstGeom>
          <a:solidFill>
            <a:srgbClr val="008000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5BEC56-AC19-8770-FFB6-206D6C682B2B}"/>
              </a:ext>
            </a:extLst>
          </p:cNvPr>
          <p:cNvSpPr txBox="1"/>
          <p:nvPr/>
        </p:nvSpPr>
        <p:spPr>
          <a:xfrm>
            <a:off x="838200" y="2755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T3 fingerprint (P candidates)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8409CEF-4674-E3BE-B5CC-395997C7476D}"/>
              </a:ext>
            </a:extLst>
          </p:cNvPr>
          <p:cNvCxnSpPr/>
          <p:nvPr/>
        </p:nvCxnSpPr>
        <p:spPr>
          <a:xfrm>
            <a:off x="609600" y="2971800"/>
            <a:ext cx="0" cy="1778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A92B5564-CC03-CEBF-AC9A-EBC76ED2B6AA}"/>
              </a:ext>
            </a:extLst>
          </p:cNvPr>
          <p:cNvSpPr/>
          <p:nvPr/>
        </p:nvSpPr>
        <p:spPr>
          <a:xfrm>
            <a:off x="508000" y="3149600"/>
            <a:ext cx="203200" cy="203200"/>
          </a:xfrm>
          <a:prstGeom prst="ellipse">
            <a:avLst/>
          </a:prstGeom>
          <a:solidFill>
            <a:srgbClr val="0070C0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463674-042B-67A1-4EBD-6FF76339B157}"/>
              </a:ext>
            </a:extLst>
          </p:cNvPr>
          <p:cNvSpPr txBox="1"/>
          <p:nvPr/>
        </p:nvSpPr>
        <p:spPr>
          <a:xfrm>
            <a:off x="838200" y="3136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fr-FR" sz="1000">
                <a:solidFill>
                  <a:srgbClr val="000000"/>
                </a:solidFill>
                <a:latin typeface="Segoe UI" panose="020B0502040204020203" pitchFamily="34" charset="0"/>
              </a:rPr>
              <a:t>T4 page_index (P candidates)</a:t>
            </a:r>
            <a:endParaRPr lang="en-IN" sz="10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1A2502B-1396-9656-40E8-9CCEE2E6ED27}"/>
              </a:ext>
            </a:extLst>
          </p:cNvPr>
          <p:cNvCxnSpPr/>
          <p:nvPr/>
        </p:nvCxnSpPr>
        <p:spPr>
          <a:xfrm>
            <a:off x="609600" y="3352800"/>
            <a:ext cx="0" cy="1778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8D47DAFA-17B2-D677-19B1-608B9852EE49}"/>
              </a:ext>
            </a:extLst>
          </p:cNvPr>
          <p:cNvSpPr/>
          <p:nvPr/>
        </p:nvSpPr>
        <p:spPr>
          <a:xfrm>
            <a:off x="508000" y="3530600"/>
            <a:ext cx="203200" cy="203200"/>
          </a:xfrm>
          <a:prstGeom prst="ellipse">
            <a:avLst/>
          </a:prstGeom>
          <a:solidFill>
            <a:srgbClr val="0080FF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5FD9DD-8D18-C433-3F33-20A2FA725AB1}"/>
              </a:ext>
            </a:extLst>
          </p:cNvPr>
          <p:cNvSpPr txBox="1"/>
          <p:nvPr/>
        </p:nvSpPr>
        <p:spPr>
          <a:xfrm>
            <a:off x="838200" y="3517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T5 signature (S candidates)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474F8B-6BB8-8518-0BD1-469927BC22D0}"/>
              </a:ext>
            </a:extLst>
          </p:cNvPr>
          <p:cNvCxnSpPr/>
          <p:nvPr/>
        </p:nvCxnSpPr>
        <p:spPr>
          <a:xfrm>
            <a:off x="609600" y="3733800"/>
            <a:ext cx="0" cy="1778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8D77C520-A443-C76B-3202-9D4723C7A1D0}"/>
              </a:ext>
            </a:extLst>
          </p:cNvPr>
          <p:cNvSpPr/>
          <p:nvPr/>
        </p:nvSpPr>
        <p:spPr>
          <a:xfrm>
            <a:off x="508000" y="3911600"/>
            <a:ext cx="203200" cy="203200"/>
          </a:xfrm>
          <a:prstGeom prst="ellipse">
            <a:avLst/>
          </a:prstGeom>
          <a:solidFill>
            <a:srgbClr val="00CC99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4728F5-2F3D-AD4D-48FE-BEE46D1EEEE8}"/>
              </a:ext>
            </a:extLst>
          </p:cNvPr>
          <p:cNvSpPr txBox="1"/>
          <p:nvPr/>
        </p:nvSpPr>
        <p:spPr>
          <a:xfrm>
            <a:off x="838200" y="3898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T6 dom_mining (S candidates)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D30EDA-6D95-CB4D-C07E-0723792FCBE5}"/>
              </a:ext>
            </a:extLst>
          </p:cNvPr>
          <p:cNvCxnSpPr/>
          <p:nvPr/>
        </p:nvCxnSpPr>
        <p:spPr>
          <a:xfrm>
            <a:off x="609600" y="4114800"/>
            <a:ext cx="0" cy="1778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573D22D-C5F6-A4C5-0A4F-7252EA562443}"/>
              </a:ext>
            </a:extLst>
          </p:cNvPr>
          <p:cNvSpPr/>
          <p:nvPr/>
        </p:nvSpPr>
        <p:spPr>
          <a:xfrm>
            <a:off x="508000" y="4292600"/>
            <a:ext cx="203200" cy="203200"/>
          </a:xfrm>
          <a:prstGeom prst="ellipse">
            <a:avLst/>
          </a:prstGeom>
          <a:solidFill>
            <a:srgbClr val="CC99FF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8C8745-9CC3-B3BB-4EAB-BAEA13012FE7}"/>
              </a:ext>
            </a:extLst>
          </p:cNvPr>
          <p:cNvSpPr txBox="1"/>
          <p:nvPr/>
        </p:nvSpPr>
        <p:spPr>
          <a:xfrm>
            <a:off x="838200" y="4279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T7 defaults (P candidates)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F1A0508-D5B8-D8AD-D4F6-89805317DABD}"/>
              </a:ext>
            </a:extLst>
          </p:cNvPr>
          <p:cNvCxnSpPr/>
          <p:nvPr/>
        </p:nvCxnSpPr>
        <p:spPr>
          <a:xfrm>
            <a:off x="609600" y="4495800"/>
            <a:ext cx="0" cy="1778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B0797EB4-2DE2-5FD5-4157-97C4659C4612}"/>
              </a:ext>
            </a:extLst>
          </p:cNvPr>
          <p:cNvSpPr/>
          <p:nvPr/>
        </p:nvSpPr>
        <p:spPr>
          <a:xfrm>
            <a:off x="508000" y="4673600"/>
            <a:ext cx="203200" cy="203200"/>
          </a:xfrm>
          <a:prstGeom prst="ellipse">
            <a:avLst/>
          </a:prstGeom>
          <a:solidFill>
            <a:srgbClr val="33CCCC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C79D37-BC8B-77F5-E5B4-BEE7064BA6F9}"/>
              </a:ext>
            </a:extLst>
          </p:cNvPr>
          <p:cNvSpPr txBox="1"/>
          <p:nvPr/>
        </p:nvSpPr>
        <p:spPr>
          <a:xfrm>
            <a:off x="838200" y="4660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T8 position (S candidates)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F846B52-45AC-96B7-6E18-ACEE88BDBEEA}"/>
              </a:ext>
            </a:extLst>
          </p:cNvPr>
          <p:cNvCxnSpPr/>
          <p:nvPr/>
        </p:nvCxnSpPr>
        <p:spPr>
          <a:xfrm>
            <a:off x="609600" y="4876800"/>
            <a:ext cx="0" cy="17780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7FC7529A-B14D-FC74-31ED-A45663DAAB0B}"/>
              </a:ext>
            </a:extLst>
          </p:cNvPr>
          <p:cNvSpPr/>
          <p:nvPr/>
        </p:nvSpPr>
        <p:spPr>
          <a:xfrm>
            <a:off x="508000" y="5054600"/>
            <a:ext cx="203200" cy="203200"/>
          </a:xfrm>
          <a:prstGeom prst="ellipse">
            <a:avLst/>
          </a:prstGeom>
          <a:solidFill>
            <a:srgbClr val="FF9900"/>
          </a:solidFill>
          <a:ln>
            <a:solidFill>
              <a:srgbClr val="4C4C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CA8FA8-B13A-7331-FC6F-26B67E9C01E1}"/>
              </a:ext>
            </a:extLst>
          </p:cNvPr>
          <p:cNvSpPr txBox="1"/>
          <p:nvPr/>
        </p:nvSpPr>
        <p:spPr>
          <a:xfrm>
            <a:off x="838200" y="5041900"/>
            <a:ext cx="46990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T9 rag + retry loop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EAB51E-77B1-4A5F-5163-BE75885DB531}"/>
              </a:ext>
            </a:extLst>
          </p:cNvPr>
          <p:cNvSpPr txBox="1"/>
          <p:nvPr/>
        </p:nvSpPr>
        <p:spPr>
          <a:xfrm>
            <a:off x="355600" y="6248400"/>
            <a:ext cx="51562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00">
                <a:solidFill>
                  <a:srgbClr val="000000"/>
                </a:solidFill>
                <a:latin typeface="Segoe UI" panose="020B0502040204020203" pitchFamily="34" charset="0"/>
              </a:rPr>
              <a:t>S = sequential stage gate, P = parallel candidate evaluation inside that stage</a:t>
            </a:r>
            <a:endParaRPr lang="en-IN" sz="9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1180F4-6486-64FE-C47B-BE2E5A87ACEE}"/>
              </a:ext>
            </a:extLst>
          </p:cNvPr>
          <p:cNvSpPr txBox="1"/>
          <p:nvPr/>
        </p:nvSpPr>
        <p:spPr>
          <a:xfrm>
            <a:off x="5892800" y="1016000"/>
            <a:ext cx="5969000" cy="22570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300" b="1">
                <a:solidFill>
                  <a:srgbClr val="000000"/>
                </a:solidFill>
                <a:latin typeface="Segoe UI Semibold" panose="020B0702040204020203" pitchFamily="34" charset="0"/>
              </a:rPr>
              <a:t>B) Parallelism, Prompt Compression, RAG, Retry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B621CB-2BE7-CC13-1500-7CA7B9D77C32}"/>
              </a:ext>
            </a:extLst>
          </p:cNvPr>
          <p:cNvSpPr/>
          <p:nvPr/>
        </p:nvSpPr>
        <p:spPr>
          <a:xfrm>
            <a:off x="5892800" y="1320800"/>
            <a:ext cx="5969000" cy="1498600"/>
          </a:xfrm>
          <a:prstGeom prst="rect">
            <a:avLst/>
          </a:prstGeom>
          <a:solidFill>
            <a:srgbClr val="F6F1F3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2DDCE8-6C7A-6CCE-F5F9-E10FC46B0B26}"/>
              </a:ext>
            </a:extLst>
          </p:cNvPr>
          <p:cNvSpPr txBox="1"/>
          <p:nvPr/>
        </p:nvSpPr>
        <p:spPr>
          <a:xfrm>
            <a:off x="5969000" y="1397000"/>
            <a:ext cx="58166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000000"/>
                </a:solidFill>
                <a:latin typeface="Segoe UI Semibold" panose="020B0702040204020203" pitchFamily="34" charset="0"/>
              </a:rPr>
              <a:t>1) In-Stage Parallel Threading (asyncio.gather)</a:t>
            </a:r>
            <a:endParaRPr lang="en-IN" sz="11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833319-3979-CD35-9C28-ECA8AFD3CCCA}"/>
              </a:ext>
            </a:extLst>
          </p:cNvPr>
          <p:cNvSpPr txBox="1"/>
          <p:nvPr/>
        </p:nvSpPr>
        <p:spPr>
          <a:xfrm>
            <a:off x="5969000" y="1625600"/>
            <a:ext cx="5816600" cy="17953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Segoe UI" panose="020B0502040204020203" pitchFamily="34" charset="0"/>
              </a:rPr>
              <a:t>Stage is sequential, candidate checks run concurrently, then best valid candidate is selected.</a:t>
            </a:r>
            <a:endParaRPr lang="en-IN" sz="1000">
              <a:solidFill>
                <a:srgbClr val="000000"/>
              </a:solidFill>
              <a:latin typeface="Segoe UI" panose="020B0502040204020203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6D8C966-5496-6EDB-8778-7C36CC81BF9A}"/>
              </a:ext>
            </a:extLst>
          </p:cNvPr>
          <p:cNvSpPr/>
          <p:nvPr/>
        </p:nvSpPr>
        <p:spPr>
          <a:xfrm>
            <a:off x="6096000" y="2006600"/>
            <a:ext cx="10922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69C262-BF67-59D7-835E-68A0654BD433}"/>
              </a:ext>
            </a:extLst>
          </p:cNvPr>
          <p:cNvSpPr txBox="1"/>
          <p:nvPr/>
        </p:nvSpPr>
        <p:spPr>
          <a:xfrm>
            <a:off x="6172200" y="2070100"/>
            <a:ext cx="914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000000"/>
                </a:solidFill>
                <a:latin typeface="Segoe UI" panose="020B0502040204020203" pitchFamily="34" charset="0"/>
              </a:rPr>
              <a:t>worker1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4F040A0-C0F1-86E3-E596-E8404099C26C}"/>
              </a:ext>
            </a:extLst>
          </p:cNvPr>
          <p:cNvSpPr/>
          <p:nvPr/>
        </p:nvSpPr>
        <p:spPr>
          <a:xfrm>
            <a:off x="7366000" y="2006600"/>
            <a:ext cx="10922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1967E6-E609-4C91-5C94-1C023C872F68}"/>
              </a:ext>
            </a:extLst>
          </p:cNvPr>
          <p:cNvSpPr txBox="1"/>
          <p:nvPr/>
        </p:nvSpPr>
        <p:spPr>
          <a:xfrm>
            <a:off x="7442200" y="2070100"/>
            <a:ext cx="914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000000"/>
                </a:solidFill>
                <a:latin typeface="Segoe UI" panose="020B0502040204020203" pitchFamily="34" charset="0"/>
              </a:rPr>
              <a:t>worker2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E4311FA-96A1-B64D-4253-8E235ACD2AB2}"/>
              </a:ext>
            </a:extLst>
          </p:cNvPr>
          <p:cNvSpPr/>
          <p:nvPr/>
        </p:nvSpPr>
        <p:spPr>
          <a:xfrm>
            <a:off x="8636000" y="2006600"/>
            <a:ext cx="10922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AACCBA-2EA5-2E83-6D60-417F1A3E865E}"/>
              </a:ext>
            </a:extLst>
          </p:cNvPr>
          <p:cNvSpPr txBox="1"/>
          <p:nvPr/>
        </p:nvSpPr>
        <p:spPr>
          <a:xfrm>
            <a:off x="8712200" y="2070100"/>
            <a:ext cx="9144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>
                <a:solidFill>
                  <a:srgbClr val="000000"/>
                </a:solidFill>
                <a:latin typeface="Segoe UI" panose="020B0502040204020203" pitchFamily="34" charset="0"/>
              </a:rPr>
              <a:t>worker3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02AFE51-5879-59E5-F548-6D43FC910913}"/>
              </a:ext>
            </a:extLst>
          </p:cNvPr>
          <p:cNvSpPr/>
          <p:nvPr/>
        </p:nvSpPr>
        <p:spPr>
          <a:xfrm>
            <a:off x="10007600" y="2019300"/>
            <a:ext cx="1651000" cy="279400"/>
          </a:xfrm>
          <a:prstGeom prst="rect">
            <a:avLst/>
          </a:prstGeom>
          <a:solidFill>
            <a:srgbClr val="EFEFEF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D5914F-D0FC-A5E6-AB4F-6CA693B013EF}"/>
              </a:ext>
            </a:extLst>
          </p:cNvPr>
          <p:cNvSpPr txBox="1"/>
          <p:nvPr/>
        </p:nvSpPr>
        <p:spPr>
          <a:xfrm>
            <a:off x="10109200" y="2070100"/>
            <a:ext cx="1473200" cy="1641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900" b="1">
                <a:solidFill>
                  <a:srgbClr val="000000"/>
                </a:solidFill>
                <a:latin typeface="Segoe UI" panose="020B0502040204020203" pitchFamily="34" charset="0"/>
              </a:rPr>
              <a:t>best validated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AF4219B9-17EA-F078-29D5-46241CA0D2C6}"/>
              </a:ext>
            </a:extLst>
          </p:cNvPr>
          <p:cNvSpPr/>
          <p:nvPr/>
        </p:nvSpPr>
        <p:spPr>
          <a:xfrm>
            <a:off x="7213600" y="2082800"/>
            <a:ext cx="177800" cy="127000"/>
          </a:xfrm>
          <a:prstGeom prst="rightArrow">
            <a:avLst/>
          </a:prstGeom>
          <a:solidFill>
            <a:srgbClr val="44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9AA5A880-C9B7-BD13-A191-E581F6EF71C9}"/>
              </a:ext>
            </a:extLst>
          </p:cNvPr>
          <p:cNvSpPr/>
          <p:nvPr/>
        </p:nvSpPr>
        <p:spPr>
          <a:xfrm>
            <a:off x="8483600" y="2082800"/>
            <a:ext cx="177800" cy="127000"/>
          </a:xfrm>
          <a:prstGeom prst="rightArrow">
            <a:avLst/>
          </a:prstGeom>
          <a:solidFill>
            <a:srgbClr val="44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23231DF6-55F6-7F79-EF81-8A7A140910E1}"/>
              </a:ext>
            </a:extLst>
          </p:cNvPr>
          <p:cNvSpPr/>
          <p:nvPr/>
        </p:nvSpPr>
        <p:spPr>
          <a:xfrm>
            <a:off x="9753600" y="2082800"/>
            <a:ext cx="177800" cy="127000"/>
          </a:xfrm>
          <a:prstGeom prst="rightArrow">
            <a:avLst/>
          </a:prstGeom>
          <a:solidFill>
            <a:srgbClr val="44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F481A1-F879-D40D-7FB2-A89D0B26E09D}"/>
              </a:ext>
            </a:extLst>
          </p:cNvPr>
          <p:cNvSpPr/>
          <p:nvPr/>
        </p:nvSpPr>
        <p:spPr>
          <a:xfrm>
            <a:off x="5892800" y="2921000"/>
            <a:ext cx="5969000" cy="1676400"/>
          </a:xfrm>
          <a:prstGeom prst="rect">
            <a:avLst/>
          </a:prstGeom>
          <a:solidFill>
            <a:srgbClr val="CCFFFF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5DF6A9-E09F-A0A6-7C66-36A773779B39}"/>
              </a:ext>
            </a:extLst>
          </p:cNvPr>
          <p:cNvSpPr txBox="1"/>
          <p:nvPr/>
        </p:nvSpPr>
        <p:spPr>
          <a:xfrm>
            <a:off x="5969000" y="2997200"/>
            <a:ext cx="58166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000000"/>
                </a:solidFill>
                <a:latin typeface="Segoe UI Semibold" panose="020B0702040204020203" pitchFamily="34" charset="0"/>
              </a:rPr>
              <a:t>2) Prompt Compression before LLM call</a:t>
            </a:r>
            <a:endParaRPr lang="en-IN" sz="11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0B18B6-C70C-5E7B-FD88-3CA5518D88E3}"/>
              </a:ext>
            </a:extLst>
          </p:cNvPr>
          <p:cNvSpPr txBox="1"/>
          <p:nvPr/>
        </p:nvSpPr>
        <p:spPr>
          <a:xfrm>
            <a:off x="5969000" y="3225800"/>
            <a:ext cx="5816600" cy="641201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raw_context -&gt; rerank top_n -&gt; compact_context (max 5)</a:t>
            </a:r>
          </a:p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DOM compression: focused sample + signature limits</a:t>
            </a:r>
          </a:p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DSL compaction: E/PG/FT/F/A/P/G/C/H/D lines</a:t>
            </a:r>
          </a:p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Telemetry: raw_context_count, prompt_context_count, context_compression_ratio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799C2C9-2301-E02D-071E-07DE9912B280}"/>
              </a:ext>
            </a:extLst>
          </p:cNvPr>
          <p:cNvSpPr/>
          <p:nvPr/>
        </p:nvSpPr>
        <p:spPr>
          <a:xfrm>
            <a:off x="5892800" y="4699000"/>
            <a:ext cx="5969000" cy="1854200"/>
          </a:xfrm>
          <a:prstGeom prst="rect">
            <a:avLst/>
          </a:prstGeom>
          <a:solidFill>
            <a:srgbClr val="FFFFF4"/>
          </a:solidFill>
          <a:ln w="15875">
            <a:solidFill>
              <a:srgbClr val="C0C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81055C-7981-989A-CB55-FA97A652A7BB}"/>
              </a:ext>
            </a:extLst>
          </p:cNvPr>
          <p:cNvSpPr txBox="1"/>
          <p:nvPr/>
        </p:nvSpPr>
        <p:spPr>
          <a:xfrm>
            <a:off x="5969000" y="4775200"/>
            <a:ext cx="5816600" cy="1949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1100" b="1">
                <a:solidFill>
                  <a:srgbClr val="000000"/>
                </a:solidFill>
                <a:latin typeface="Segoe UI Semibold" panose="020B0702040204020203" pitchFamily="34" charset="0"/>
              </a:rPr>
              <a:t>3) RAG Flow and Retry</a:t>
            </a:r>
            <a:endParaRPr lang="en-IN" sz="1100" b="1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D5B4D7-359C-6F8C-5F81-B1C6F7827B80}"/>
              </a:ext>
            </a:extLst>
          </p:cNvPr>
          <p:cNvSpPr txBox="1"/>
          <p:nvPr/>
        </p:nvSpPr>
        <p:spPr>
          <a:xfrm>
            <a:off x="5969000" y="5003800"/>
            <a:ext cx="5816600" cy="79508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embed query -&gt; retrieve context -&gt; build payload -&gt; LLM suggest</a:t>
            </a:r>
          </a:p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validate suggestions (same validator as deterministic flow)</a:t>
            </a:r>
          </a:p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if fail + retry_reason: rag_retry deep_graph attempt (deep_1..N)</a:t>
            </a:r>
          </a:p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if not_visible seen: prefer_actionable=true in retries</a:t>
            </a:r>
          </a:p>
          <a:p>
            <a:r>
              <a:rPr lang="en-IN" sz="1000">
                <a:solidFill>
                  <a:srgbClr val="000000"/>
                </a:solidFill>
                <a:latin typeface="Segoe UI" panose="020B0502040204020203" pitchFamily="34" charset="0"/>
              </a:rPr>
              <a:t>exhausted retries: rag_hallucination -&gt; recover_end fail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D0A511-0BF0-2605-7DDB-46613291AF5E}"/>
              </a:ext>
            </a:extLst>
          </p:cNvPr>
          <p:cNvSpPr txBox="1"/>
          <p:nvPr/>
        </p:nvSpPr>
        <p:spPr>
          <a:xfrm>
            <a:off x="5918200" y="6413500"/>
            <a:ext cx="22860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IN" sz="800">
                <a:solidFill>
                  <a:srgbClr val="000000"/>
                </a:solidFill>
                <a:latin typeface="Segoe UI" panose="020B0502040204020203" pitchFamily="34" charset="0"/>
              </a:rPr>
              <a:t>Clock legend: stage timeline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E8AFDE1-2C2F-F2EE-6667-BC9C84365C93}"/>
              </a:ext>
            </a:extLst>
          </p:cNvPr>
          <p:cNvSpPr/>
          <p:nvPr/>
        </p:nvSpPr>
        <p:spPr>
          <a:xfrm>
            <a:off x="7670800" y="6426200"/>
            <a:ext cx="127000" cy="127000"/>
          </a:xfrm>
          <a:prstGeom prst="ellipse">
            <a:avLst/>
          </a:prstGeom>
          <a:solidFill>
            <a:srgbClr val="FFFF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45D2BED-EBA7-70FA-13A2-EE51F79E25D9}"/>
              </a:ext>
            </a:extLst>
          </p:cNvPr>
          <p:cNvSpPr/>
          <p:nvPr/>
        </p:nvSpPr>
        <p:spPr>
          <a:xfrm>
            <a:off x="7874000" y="6426200"/>
            <a:ext cx="127000" cy="127000"/>
          </a:xfrm>
          <a:prstGeom prst="ellipse">
            <a:avLst/>
          </a:prstGeom>
          <a:solidFill>
            <a:srgbClr val="D1C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0350BAC-C66B-3EB3-F6B4-72B119466E73}"/>
              </a:ext>
            </a:extLst>
          </p:cNvPr>
          <p:cNvSpPr/>
          <p:nvPr/>
        </p:nvSpPr>
        <p:spPr>
          <a:xfrm>
            <a:off x="8077200" y="6426200"/>
            <a:ext cx="127000" cy="127000"/>
          </a:xfrm>
          <a:prstGeom prst="ellipse">
            <a:avLst/>
          </a:prstGeom>
          <a:solidFill>
            <a:srgbClr val="FFA5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C1B9387-3558-1C4F-0836-7BE2A6D91F08}"/>
              </a:ext>
            </a:extLst>
          </p:cNvPr>
          <p:cNvSpPr/>
          <p:nvPr/>
        </p:nvSpPr>
        <p:spPr>
          <a:xfrm>
            <a:off x="8280400" y="6426200"/>
            <a:ext cx="127000" cy="127000"/>
          </a:xfrm>
          <a:prstGeom prst="ellipse">
            <a:avLst/>
          </a:prstGeom>
          <a:solidFill>
            <a:srgbClr val="008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14C9C21-A06A-A368-BB88-9AD9EB4FCA94}"/>
              </a:ext>
            </a:extLst>
          </p:cNvPr>
          <p:cNvSpPr/>
          <p:nvPr/>
        </p:nvSpPr>
        <p:spPr>
          <a:xfrm>
            <a:off x="8483600" y="6426200"/>
            <a:ext cx="127000" cy="127000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68C99E7-139F-4928-58BB-2F29FD1A0FCB}"/>
              </a:ext>
            </a:extLst>
          </p:cNvPr>
          <p:cNvSpPr/>
          <p:nvPr/>
        </p:nvSpPr>
        <p:spPr>
          <a:xfrm>
            <a:off x="8686800" y="6426200"/>
            <a:ext cx="127000" cy="127000"/>
          </a:xfrm>
          <a:prstGeom prst="ellipse">
            <a:avLst/>
          </a:prstGeom>
          <a:solidFill>
            <a:srgbClr val="008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8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299</Words>
  <Application>Microsoft Office PowerPoint</Application>
  <PresentationFormat>On-screen Show (16:10)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Neelabh Srivastava</dc:creator>
  <cp:lastModifiedBy>Neelabh Srivastava</cp:lastModifiedBy>
  <cp:revision>2</cp:revision>
  <dcterms:created xsi:type="dcterms:W3CDTF">2026-04-15T05:59:26Z</dcterms:created>
  <dcterms:modified xsi:type="dcterms:W3CDTF">2026-04-15T06:04:34Z</dcterms:modified>
</cp:coreProperties>
</file>